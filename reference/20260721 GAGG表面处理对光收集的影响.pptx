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5" r:id="rId6"/>
    <p:sldId id="268" r:id="rId7"/>
    <p:sldId id="266" r:id="rId8"/>
    <p:sldId id="26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92" autoAdjust="0"/>
  </p:normalViewPr>
  <p:slideViewPr>
    <p:cSldViewPr snapToGrid="0">
      <p:cViewPr varScale="1">
        <p:scale>
          <a:sx n="70" d="100"/>
          <a:sy n="70" d="100"/>
        </p:scale>
        <p:origin x="501" y="39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BFA4D-A125-460E-AF23-750866E48884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F9F61-956A-4BAF-BFBA-0681C3238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523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F9F61-956A-4BAF-BFBA-0681C32386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11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F87A6-8F79-5689-03CE-2995AC1CF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723143-1D97-74C1-9A59-19F8DB623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539BDB-DACB-30D1-FE68-C4AE8C7E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AF47-34D2-464A-B683-84CC31842F69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342FE0-A85D-B8C3-C98E-FA02401E0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7893D-7498-DD04-1786-E631B17C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845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BDBB0-8245-6CFE-C064-ADEFA0876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F1496B-B154-9829-B596-533A281AA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E9622D-567F-7185-ADF0-FB7F8940C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4BE3-9822-49CD-8730-134875B821B8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BF5E20-7623-9B47-D3A7-9587FA5DB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B747C7-7431-6795-636F-8096B8AA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24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0C43E-2A74-A13C-4C59-94CCE0AD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7DF436-EC30-41CD-D1BC-386D41ACB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952FA5-EA6F-CD9F-EA7A-3B6EAE99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67BB-20F3-48D1-9B0C-D46AAD537B34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3FDE86-EB07-BC9F-9ACB-78C95E4C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429B5B-C1BB-B016-B221-B31A365F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9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CCF12-AEDE-93AF-E8B7-616E9634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82F02A-046A-B393-5896-1B5BBF5D9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C3F329-3560-76B9-27C0-1D4D5D7FF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5304CE-9100-13AC-B4CB-EE34695C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2A40-E114-426F-A5A9-DADE9A0C290E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E65699-6633-3388-7873-6EEEA3B45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C14F0C-F7A1-0DF0-C803-46E2D50B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665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5D48A-91F9-65BF-48BC-5545D947A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1456F1-4AEE-9DA9-00A0-C48A9205E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BA4837-1104-CD3E-C5B2-A51D202EE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0743EC-68DE-C0F3-A334-48ADBA267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389ECA-182F-45C5-26DA-687360244E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6F2601-A153-DFF4-97AF-C3F6D03B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286BF-73AF-4039-B1E0-C73F15454CDF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15AC85-C019-8B56-8980-82E008C3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C5B4F6-7FCD-8F3B-B5F2-7280FF1F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16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BB49D-E517-F71A-6056-76A42D326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ABDDEE-D614-AAEC-1056-4562365D1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63FF-622F-42DB-A35A-95A489AA4CAB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75091B-56A3-7AD9-4AC9-871A7E87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F34A23-FD94-E980-FE23-12571219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44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290B87-B973-0890-5A7B-EDE0C12CE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A93-B202-4CA0-AA0F-D61A0448242E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593121-041E-6CCD-1C09-4F3E160F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FDFEB-F599-8A0D-3808-37B6077B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69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90050-EFBE-ED06-D943-A5C47D3D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1E57CA-DC76-01F5-C8D6-3F1432B4B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BF0B96-1482-0A91-A265-5193FA27D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0E8A4E-CFC6-6A84-CE12-C0743889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F362D-BAC3-4C3C-9064-45F1AC39683C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BC3DF7-A0BC-2072-4605-FFE4C594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DCB789-4662-DD52-F609-CB5A0B100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06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EDA44-FE4E-4228-D3D3-DB047E3D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4329EC-CA76-4C50-5B29-FF84DB117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093110-73C8-B36B-311D-F397A9D6A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AB40A4-633E-6741-678D-C89730903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EFB5-99F7-4CCB-998F-DF6A47F8E2B3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BEEDED-AE3A-B90F-2E2B-EF382127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C8A829-FD29-EB44-E648-936B4A0F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24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19431-5F6F-F36C-3927-222D04A2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AA47A-D534-A4C3-29DB-69C73CCF4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5885A5-CF3E-369A-EC4D-7D414E5C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E428-57EE-43B3-AA9F-A90D912E38EA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1DD43-5312-82F1-EF85-49309CF2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45906C-DE67-BD8C-F85A-8FA877496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5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024E25-7C3B-B827-D3E9-149ED57B6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4D3CA5-9E36-0C1D-7E2F-C6D49B83B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2B0CA8-5AEF-4A60-2546-2CAB7FA9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A1F9-5E53-4DB6-ADAB-85F9528D806C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8C6210-A084-5DCD-B496-4E3F03664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8F0BEB-1174-2CAC-C401-7126375C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47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D03BBE-AF64-9FA5-8139-4C113978B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265633-88CB-2015-1150-5E19FC7E0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DE8935-7E2E-FACF-A74B-F4D8AEF4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9BA93-50BB-47A4-8005-811CC3BFE7F6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B80A9F-D89C-05F8-D10F-C75AC6F8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46AEDE-BA64-23A2-1305-016B3613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32FC2-BB33-408E-802F-6454D3AC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95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4ACE1-C7A9-3D30-73B4-268DA52913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GAGG</a:t>
            </a:r>
            <a:r>
              <a:rPr lang="zh-CN" altLang="en-US" sz="4800" dirty="0"/>
              <a:t>表面处理对光收集的影响</a:t>
            </a:r>
            <a:br>
              <a:rPr lang="en-US" altLang="zh-CN" sz="4800" dirty="0"/>
            </a:br>
            <a:r>
              <a:rPr lang="zh-CN" altLang="en-US" sz="4800" dirty="0"/>
              <a:t>初步实验结果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B77E29-EACB-D904-A561-E4EAC328FB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潘晓凡</a:t>
            </a:r>
            <a:endParaRPr lang="en-US" altLang="zh-CN" dirty="0"/>
          </a:p>
          <a:p>
            <a:r>
              <a:rPr lang="en-US" altLang="zh-CN" dirty="0"/>
              <a:t>2026.7.21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BC26AB-DEBB-F3CA-CAD8-22CB56DC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64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1F17E-EF49-B294-C9D3-795A9CB2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二十六所提供的样品及测试计划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BA4C13-4314-846A-BB6C-37CC67A5E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455" y="1910886"/>
            <a:ext cx="7961067" cy="447810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B75D205-16D5-C93C-9410-92D67CDA5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658944"/>
              </p:ext>
            </p:extLst>
          </p:nvPr>
        </p:nvGraphicFramePr>
        <p:xfrm>
          <a:off x="189745" y="1845130"/>
          <a:ext cx="3744225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319">
                  <a:extLst>
                    <a:ext uri="{9D8B030D-6E8A-4147-A177-3AD203B41FA5}">
                      <a16:colId xmlns:a16="http://schemas.microsoft.com/office/drawing/2014/main" val="2569756931"/>
                    </a:ext>
                  </a:extLst>
                </a:gridCol>
                <a:gridCol w="685611">
                  <a:extLst>
                    <a:ext uri="{9D8B030D-6E8A-4147-A177-3AD203B41FA5}">
                      <a16:colId xmlns:a16="http://schemas.microsoft.com/office/drawing/2014/main" val="1033214258"/>
                    </a:ext>
                  </a:extLst>
                </a:gridCol>
                <a:gridCol w="2313295">
                  <a:extLst>
                    <a:ext uri="{9D8B030D-6E8A-4147-A177-3AD203B41FA5}">
                      <a16:colId xmlns:a16="http://schemas.microsoft.com/office/drawing/2014/main" val="1440012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初始状态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877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r>
                        <a:rPr lang="zh-CN" altLang="en-US" dirty="0"/>
                        <a:t>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所有面抛光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297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r>
                        <a:rPr lang="zh-CN" altLang="en-US" dirty="0"/>
                        <a:t>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两端抛光，侧面粗糙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16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标块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所有面抛光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77436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195DEA43-DBE4-85EF-3D49-BDF719C5AA93}"/>
              </a:ext>
            </a:extLst>
          </p:cNvPr>
          <p:cNvSpPr txBox="1"/>
          <p:nvPr/>
        </p:nvSpPr>
        <p:spPr>
          <a:xfrm>
            <a:off x="3933970" y="1541554"/>
            <a:ext cx="263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（二十六所</a:t>
            </a:r>
            <a:r>
              <a:rPr lang="en-US" altLang="zh-CN" dirty="0"/>
              <a:t>slides</a:t>
            </a:r>
            <a:r>
              <a:rPr lang="zh-CN" altLang="en-US" dirty="0"/>
              <a:t>）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3C9CC68D-86FC-F8A4-266E-5BC12C83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A6ACE7-338E-5873-BD02-A7CE18917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57" y="5364983"/>
            <a:ext cx="1440000" cy="10800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535F679-788A-CBC1-4E36-6013D3D86D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57" y="3805452"/>
            <a:ext cx="1440000" cy="108000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A8FB15A-EF8A-4329-3A6B-5B96F0D03BD7}"/>
              </a:ext>
            </a:extLst>
          </p:cNvPr>
          <p:cNvSpPr txBox="1"/>
          <p:nvPr/>
        </p:nvSpPr>
        <p:spPr>
          <a:xfrm>
            <a:off x="913372" y="4991580"/>
            <a:ext cx="2296969" cy="37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两端抛光，侧面粗糙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E82C9C-0A91-F336-254A-A21E2528D110}"/>
              </a:ext>
            </a:extLst>
          </p:cNvPr>
          <p:cNvSpPr txBox="1"/>
          <p:nvPr/>
        </p:nvSpPr>
        <p:spPr>
          <a:xfrm>
            <a:off x="913372" y="3434401"/>
            <a:ext cx="2296969" cy="37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所有面抛光</a:t>
            </a:r>
          </a:p>
        </p:txBody>
      </p:sp>
    </p:spTree>
    <p:extLst>
      <p:ext uri="{BB962C8B-B14F-4D97-AF65-F5344CB8AC3E}">
        <p14:creationId xmlns:p14="http://schemas.microsoft.com/office/powerpoint/2010/main" val="142494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7D350-68CF-DDF7-4135-2A410D21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实验装置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87192-7275-8F30-EB9F-614B99448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330"/>
            <a:ext cx="10515600" cy="4351338"/>
          </a:xfrm>
        </p:spPr>
        <p:txBody>
          <a:bodyPr/>
          <a:lstStyle/>
          <a:p>
            <a:r>
              <a:rPr lang="zh-CN" altLang="en-US" dirty="0"/>
              <a:t>在北大原有光产额测量平台的基础上，增加一些</a:t>
            </a:r>
            <a:r>
              <a:rPr lang="en-US" altLang="zh-CN" dirty="0"/>
              <a:t>3D</a:t>
            </a:r>
            <a:r>
              <a:rPr lang="zh-CN" altLang="en-US" dirty="0"/>
              <a:t>打印结构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E84B17-DB2D-8B6F-5BCE-F7BA047221F3}"/>
              </a:ext>
            </a:extLst>
          </p:cNvPr>
          <p:cNvSpPr/>
          <p:nvPr/>
        </p:nvSpPr>
        <p:spPr>
          <a:xfrm>
            <a:off x="2964225" y="4077042"/>
            <a:ext cx="1933469" cy="34787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FFF4B9-D70E-E916-8822-8B3C4B7DF986}"/>
              </a:ext>
            </a:extLst>
          </p:cNvPr>
          <p:cNvSpPr/>
          <p:nvPr/>
        </p:nvSpPr>
        <p:spPr>
          <a:xfrm>
            <a:off x="2964225" y="4483758"/>
            <a:ext cx="710143" cy="141451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B75804-0F9A-F319-0F86-1CB618B73F74}"/>
              </a:ext>
            </a:extLst>
          </p:cNvPr>
          <p:cNvSpPr/>
          <p:nvPr/>
        </p:nvSpPr>
        <p:spPr>
          <a:xfrm>
            <a:off x="2053847" y="5652206"/>
            <a:ext cx="880142" cy="66191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C7E660-4435-7507-1C18-8B202C2990D8}"/>
              </a:ext>
            </a:extLst>
          </p:cNvPr>
          <p:cNvSpPr/>
          <p:nvPr/>
        </p:nvSpPr>
        <p:spPr>
          <a:xfrm>
            <a:off x="3726857" y="2627574"/>
            <a:ext cx="408201" cy="1669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11EA68-C100-7BC0-0474-14BA5D5C3D4E}"/>
              </a:ext>
            </a:extLst>
          </p:cNvPr>
          <p:cNvSpPr txBox="1"/>
          <p:nvPr/>
        </p:nvSpPr>
        <p:spPr>
          <a:xfrm>
            <a:off x="5219037" y="2620032"/>
            <a:ext cx="270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aseline="30000" dirty="0"/>
              <a:t>22</a:t>
            </a:r>
            <a:r>
              <a:rPr lang="en-US" altLang="zh-CN" sz="2400" dirty="0"/>
              <a:t>Na</a:t>
            </a:r>
            <a:r>
              <a:rPr lang="zh-CN" altLang="en-US" sz="2400" dirty="0"/>
              <a:t>放射源</a:t>
            </a:r>
            <a:endParaRPr lang="en-US" altLang="zh-CN" sz="2400" dirty="0"/>
          </a:p>
          <a:p>
            <a:pPr algn="ctr"/>
            <a:r>
              <a:rPr lang="zh-CN" altLang="en-US" sz="1600" dirty="0"/>
              <a:t>（由</a:t>
            </a:r>
            <a:r>
              <a:rPr lang="en-US" altLang="zh-CN" sz="1600" dirty="0"/>
              <a:t>3D</a:t>
            </a:r>
            <a:r>
              <a:rPr lang="zh-CN" altLang="en-US" sz="1600" dirty="0"/>
              <a:t>打印的结构支撑）</a:t>
            </a:r>
            <a:endParaRPr lang="en-US" altLang="zh-CN" sz="1600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E9640B7-8F3D-E3A1-B280-1EF35414E111}"/>
              </a:ext>
            </a:extLst>
          </p:cNvPr>
          <p:cNvCxnSpPr>
            <a:cxnSpLocks/>
          </p:cNvCxnSpPr>
          <p:nvPr/>
        </p:nvCxnSpPr>
        <p:spPr>
          <a:xfrm flipH="1" flipV="1">
            <a:off x="4158082" y="2741538"/>
            <a:ext cx="1653850" cy="1995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76A8B5AB-18C9-A04A-5E7F-B2FEAEF43247}"/>
              </a:ext>
            </a:extLst>
          </p:cNvPr>
          <p:cNvSpPr txBox="1"/>
          <p:nvPr/>
        </p:nvSpPr>
        <p:spPr>
          <a:xfrm>
            <a:off x="5219037" y="3472739"/>
            <a:ext cx="1198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ESR</a:t>
            </a:r>
            <a:endParaRPr lang="zh-CN" altLang="en-US" sz="2400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5ADFD2F-2685-6AE6-8DBC-E52CAE522CA0}"/>
              </a:ext>
            </a:extLst>
          </p:cNvPr>
          <p:cNvCxnSpPr>
            <a:cxnSpLocks/>
          </p:cNvCxnSpPr>
          <p:nvPr/>
        </p:nvCxnSpPr>
        <p:spPr>
          <a:xfrm flipH="1">
            <a:off x="4345110" y="3745482"/>
            <a:ext cx="1195157" cy="6375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FAA73AE-A0A9-946E-9A57-70EEBCC6FB29}"/>
              </a:ext>
            </a:extLst>
          </p:cNvPr>
          <p:cNvSpPr txBox="1"/>
          <p:nvPr/>
        </p:nvSpPr>
        <p:spPr>
          <a:xfrm>
            <a:off x="5410877" y="4985191"/>
            <a:ext cx="1583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吸光涂料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C3B9555-A0E8-5101-D969-C6D4545356F6}"/>
              </a:ext>
            </a:extLst>
          </p:cNvPr>
          <p:cNvSpPr txBox="1"/>
          <p:nvPr/>
        </p:nvSpPr>
        <p:spPr>
          <a:xfrm>
            <a:off x="5388157" y="4181308"/>
            <a:ext cx="1865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GAGG</a:t>
            </a:r>
            <a:r>
              <a:rPr lang="zh-CN" altLang="en-US" sz="2400" dirty="0"/>
              <a:t>样品</a:t>
            </a:r>
            <a:endParaRPr lang="en-US" altLang="zh-CN" sz="2400" dirty="0"/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5.75 x 5.75 x 20</a:t>
            </a:r>
            <a:r>
              <a:rPr lang="zh-CN" altLang="en-US" sz="1600" dirty="0"/>
              <a:t>）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42B05DD-37A7-3B95-4EEF-A6B2B4607639}"/>
              </a:ext>
            </a:extLst>
          </p:cNvPr>
          <p:cNvCxnSpPr>
            <a:cxnSpLocks/>
          </p:cNvCxnSpPr>
          <p:nvPr/>
        </p:nvCxnSpPr>
        <p:spPr>
          <a:xfrm flipH="1">
            <a:off x="2165640" y="3774509"/>
            <a:ext cx="24000" cy="18620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531355EC-CB29-BEB4-FA91-C36703399E9D}"/>
              </a:ext>
            </a:extLst>
          </p:cNvPr>
          <p:cNvSpPr/>
          <p:nvPr/>
        </p:nvSpPr>
        <p:spPr>
          <a:xfrm>
            <a:off x="4187551" y="4483757"/>
            <a:ext cx="710143" cy="141451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198DE3-CB21-2DE5-AB02-4316B583203F}"/>
              </a:ext>
            </a:extLst>
          </p:cNvPr>
          <p:cNvSpPr/>
          <p:nvPr/>
        </p:nvSpPr>
        <p:spPr>
          <a:xfrm>
            <a:off x="3359250" y="4579351"/>
            <a:ext cx="1143419" cy="1212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D8826C-820C-406F-1FB7-008F64E33535}"/>
              </a:ext>
            </a:extLst>
          </p:cNvPr>
          <p:cNvSpPr/>
          <p:nvPr/>
        </p:nvSpPr>
        <p:spPr>
          <a:xfrm>
            <a:off x="3708464" y="4478127"/>
            <a:ext cx="444991" cy="14145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B35A30-78A0-3A39-62BA-06553CCA4F0A}"/>
              </a:ext>
            </a:extLst>
          </p:cNvPr>
          <p:cNvCxnSpPr>
            <a:cxnSpLocks/>
          </p:cNvCxnSpPr>
          <p:nvPr/>
        </p:nvCxnSpPr>
        <p:spPr>
          <a:xfrm>
            <a:off x="3474986" y="4424912"/>
            <a:ext cx="911945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A3C7139-A434-4E2E-7025-468474F1F62B}"/>
              </a:ext>
            </a:extLst>
          </p:cNvPr>
          <p:cNvCxnSpPr>
            <a:cxnSpLocks/>
          </p:cNvCxnSpPr>
          <p:nvPr/>
        </p:nvCxnSpPr>
        <p:spPr>
          <a:xfrm>
            <a:off x="3359250" y="4579351"/>
            <a:ext cx="0" cy="121206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CAA8DB0-E0A2-DEC7-F68B-4C46137A1AAC}"/>
              </a:ext>
            </a:extLst>
          </p:cNvPr>
          <p:cNvCxnSpPr>
            <a:cxnSpLocks/>
          </p:cNvCxnSpPr>
          <p:nvPr/>
        </p:nvCxnSpPr>
        <p:spPr>
          <a:xfrm>
            <a:off x="4499702" y="4579351"/>
            <a:ext cx="0" cy="121206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A0B0572-C585-F942-56E3-1F22E6458409}"/>
              </a:ext>
            </a:extLst>
          </p:cNvPr>
          <p:cNvCxnSpPr>
            <a:cxnSpLocks/>
          </p:cNvCxnSpPr>
          <p:nvPr/>
        </p:nvCxnSpPr>
        <p:spPr>
          <a:xfrm>
            <a:off x="3359250" y="4579351"/>
            <a:ext cx="3151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76506B2-035C-5001-E4DC-F92DA0CACDB2}"/>
              </a:ext>
            </a:extLst>
          </p:cNvPr>
          <p:cNvCxnSpPr>
            <a:cxnSpLocks/>
          </p:cNvCxnSpPr>
          <p:nvPr/>
        </p:nvCxnSpPr>
        <p:spPr>
          <a:xfrm>
            <a:off x="4187551" y="4579351"/>
            <a:ext cx="3151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2A27C06-D908-404E-A734-42FD516BF264}"/>
              </a:ext>
            </a:extLst>
          </p:cNvPr>
          <p:cNvCxnSpPr>
            <a:cxnSpLocks/>
          </p:cNvCxnSpPr>
          <p:nvPr/>
        </p:nvCxnSpPr>
        <p:spPr>
          <a:xfrm>
            <a:off x="3359250" y="5791414"/>
            <a:ext cx="3151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5A6322D-7A32-76E4-AF0D-29EB7714F411}"/>
              </a:ext>
            </a:extLst>
          </p:cNvPr>
          <p:cNvCxnSpPr>
            <a:cxnSpLocks/>
          </p:cNvCxnSpPr>
          <p:nvPr/>
        </p:nvCxnSpPr>
        <p:spPr>
          <a:xfrm>
            <a:off x="4187551" y="5791414"/>
            <a:ext cx="3151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6AE46275-5EF5-C3CD-F50E-4B5BA34CCA88}"/>
              </a:ext>
            </a:extLst>
          </p:cNvPr>
          <p:cNvSpPr/>
          <p:nvPr/>
        </p:nvSpPr>
        <p:spPr>
          <a:xfrm>
            <a:off x="4931790" y="5652206"/>
            <a:ext cx="880142" cy="66191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D88138-1830-1BC1-7A3F-A50D61EC1F57}"/>
              </a:ext>
            </a:extLst>
          </p:cNvPr>
          <p:cNvSpPr/>
          <p:nvPr/>
        </p:nvSpPr>
        <p:spPr>
          <a:xfrm>
            <a:off x="2180102" y="5887007"/>
            <a:ext cx="3505576" cy="464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3FBAB4-AF9B-183C-E16E-B6C963072DD6}"/>
              </a:ext>
            </a:extLst>
          </p:cNvPr>
          <p:cNvSpPr/>
          <p:nvPr/>
        </p:nvSpPr>
        <p:spPr>
          <a:xfrm>
            <a:off x="2209253" y="5915235"/>
            <a:ext cx="3447274" cy="1827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12965AB-1915-0278-2953-D059648D533F}"/>
              </a:ext>
            </a:extLst>
          </p:cNvPr>
          <p:cNvCxnSpPr>
            <a:cxnSpLocks/>
          </p:cNvCxnSpPr>
          <p:nvPr/>
        </p:nvCxnSpPr>
        <p:spPr>
          <a:xfrm flipH="1">
            <a:off x="4178117" y="4618757"/>
            <a:ext cx="1362150" cy="4246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61660C2-28A1-E42D-D43A-B6AC215958DB}"/>
              </a:ext>
            </a:extLst>
          </p:cNvPr>
          <p:cNvCxnSpPr>
            <a:cxnSpLocks/>
          </p:cNvCxnSpPr>
          <p:nvPr/>
        </p:nvCxnSpPr>
        <p:spPr>
          <a:xfrm flipH="1">
            <a:off x="4536765" y="5255649"/>
            <a:ext cx="1035252" cy="154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0228B47-4CBB-D372-5C57-DB62A9FC5D26}"/>
              </a:ext>
            </a:extLst>
          </p:cNvPr>
          <p:cNvSpPr txBox="1"/>
          <p:nvPr/>
        </p:nvSpPr>
        <p:spPr>
          <a:xfrm>
            <a:off x="2599126" y="6084954"/>
            <a:ext cx="2691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PMT</a:t>
            </a:r>
            <a:r>
              <a:rPr lang="zh-CN" altLang="en-US" sz="2400" dirty="0"/>
              <a:t>入射窗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D367758-1C6C-D143-07DB-0C733D543C69}"/>
              </a:ext>
            </a:extLst>
          </p:cNvPr>
          <p:cNvCxnSpPr>
            <a:cxnSpLocks/>
          </p:cNvCxnSpPr>
          <p:nvPr/>
        </p:nvCxnSpPr>
        <p:spPr>
          <a:xfrm>
            <a:off x="2487917" y="3774510"/>
            <a:ext cx="449135" cy="10933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D07FF40-4AF9-A54A-BA45-BE17AEC0EE35}"/>
              </a:ext>
            </a:extLst>
          </p:cNvPr>
          <p:cNvCxnSpPr>
            <a:cxnSpLocks/>
          </p:cNvCxnSpPr>
          <p:nvPr/>
        </p:nvCxnSpPr>
        <p:spPr>
          <a:xfrm>
            <a:off x="2885332" y="3774509"/>
            <a:ext cx="273823" cy="3142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DE3AE176-1F6F-D4E3-7AED-74D41EB436A0}"/>
              </a:ext>
            </a:extLst>
          </p:cNvPr>
          <p:cNvSpPr txBox="1"/>
          <p:nvPr/>
        </p:nvSpPr>
        <p:spPr>
          <a:xfrm>
            <a:off x="1822448" y="3324464"/>
            <a:ext cx="2471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3D</a:t>
            </a:r>
            <a:r>
              <a:rPr lang="zh-CN" altLang="en-US" sz="2400" dirty="0"/>
              <a:t>打印黑色结构</a:t>
            </a:r>
          </a:p>
        </p:txBody>
      </p:sp>
      <p:sp>
        <p:nvSpPr>
          <p:cNvPr id="73" name="灯片编号占位符 72">
            <a:extLst>
              <a:ext uri="{FF2B5EF4-FFF2-40B4-BE49-F238E27FC236}">
                <a16:creationId xmlns:a16="http://schemas.microsoft.com/office/drawing/2014/main" id="{B1DF4C00-2644-AE08-0EAB-68E36BEC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C039317-75C3-2B65-0DA1-6BC31AD9F742}"/>
              </a:ext>
            </a:extLst>
          </p:cNvPr>
          <p:cNvSpPr/>
          <p:nvPr/>
        </p:nvSpPr>
        <p:spPr>
          <a:xfrm>
            <a:off x="946948" y="2324101"/>
            <a:ext cx="6734175" cy="43513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EF1D53-A32B-180D-72D2-1C9C6F5B0659}"/>
              </a:ext>
            </a:extLst>
          </p:cNvPr>
          <p:cNvSpPr txBox="1"/>
          <p:nvPr/>
        </p:nvSpPr>
        <p:spPr>
          <a:xfrm>
            <a:off x="8036109" y="4256185"/>
            <a:ext cx="3598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信号使用示波器采集，用信号扣除基线后的积分面积绘制直方图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0DA058-9543-96E3-DB1E-4C284E078256}"/>
              </a:ext>
            </a:extLst>
          </p:cNvPr>
          <p:cNvSpPr txBox="1"/>
          <p:nvPr/>
        </p:nvSpPr>
        <p:spPr>
          <a:xfrm>
            <a:off x="955888" y="2349835"/>
            <a:ext cx="2102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（晶体周围未使用耦合剂，与周围材料之间隔有空气层）</a:t>
            </a:r>
          </a:p>
        </p:txBody>
      </p:sp>
    </p:spTree>
    <p:extLst>
      <p:ext uri="{BB962C8B-B14F-4D97-AF65-F5344CB8AC3E}">
        <p14:creationId xmlns:p14="http://schemas.microsoft.com/office/powerpoint/2010/main" val="2607179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E58FD-A619-C37E-734A-A40FD07A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装置照片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68260E-6723-4D3E-6C54-D8880A17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C572D561-FE69-39CA-6B4A-4D71F6A57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512" y="3083214"/>
            <a:ext cx="2348609" cy="3131478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9C6CF5AA-829C-C838-AA68-D5999B020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542" y="3083214"/>
            <a:ext cx="2348609" cy="3131478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78EE2373-F715-7072-B525-49D2F2602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572" y="3083214"/>
            <a:ext cx="2348609" cy="31314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D61D5F-6C55-4D66-46E9-2EE741DEE6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31" r="20540"/>
          <a:stretch/>
        </p:blipFill>
        <p:spPr>
          <a:xfrm>
            <a:off x="6303433" y="569262"/>
            <a:ext cx="1743076" cy="226456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8716472-FC35-4528-AA48-182598680B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2" r="23380"/>
          <a:stretch/>
        </p:blipFill>
        <p:spPr>
          <a:xfrm>
            <a:off x="4499772" y="569263"/>
            <a:ext cx="1743075" cy="22645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ED501F4-BC22-1551-2C57-FC6F32E8C351}"/>
              </a:ext>
            </a:extLst>
          </p:cNvPr>
          <p:cNvSpPr/>
          <p:nvPr/>
        </p:nvSpPr>
        <p:spPr>
          <a:xfrm>
            <a:off x="5809458" y="3998262"/>
            <a:ext cx="866775" cy="771526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DFD4D7B-5CA1-27BD-573D-FF2E6C10E260}"/>
              </a:ext>
            </a:extLst>
          </p:cNvPr>
          <p:cNvCxnSpPr>
            <a:cxnSpLocks/>
          </p:cNvCxnSpPr>
          <p:nvPr/>
        </p:nvCxnSpPr>
        <p:spPr>
          <a:xfrm>
            <a:off x="4499772" y="2833831"/>
            <a:ext cx="1309686" cy="1164431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3AAA057-1E2D-2586-0797-567AB6E62645}"/>
              </a:ext>
            </a:extLst>
          </p:cNvPr>
          <p:cNvCxnSpPr>
            <a:cxnSpLocks/>
          </p:cNvCxnSpPr>
          <p:nvPr/>
        </p:nvCxnSpPr>
        <p:spPr>
          <a:xfrm flipH="1">
            <a:off x="6676233" y="2833831"/>
            <a:ext cx="1370276" cy="1164431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974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7D350-68CF-DDF7-4135-2A410D21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当前进展（</a:t>
            </a:r>
            <a:r>
              <a:rPr lang="en-US" altLang="zh-CN" dirty="0"/>
              <a:t>2026.7.21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87192-7275-8F30-EB9F-614B99448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330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两端抛光状态的样品已于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月完成测试</a:t>
            </a:r>
            <a:endParaRPr lang="en-US" altLang="zh-CN" dirty="0"/>
          </a:p>
          <a:p>
            <a:r>
              <a:rPr lang="en-US" altLang="zh-CN" dirty="0"/>
              <a:t>26</a:t>
            </a:r>
            <a:r>
              <a:rPr lang="zh-CN" altLang="en-US" dirty="0"/>
              <a:t>所已对其中一个端面做粗糙处理，已于</a:t>
            </a:r>
            <a:r>
              <a:rPr lang="en-US" altLang="zh-CN" dirty="0"/>
              <a:t>6</a:t>
            </a:r>
            <a:r>
              <a:rPr lang="zh-CN" altLang="en-US" dirty="0"/>
              <a:t>月寄回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单端抛光状态的样品已于本月完成实验，数据处理进行中</a:t>
            </a:r>
            <a:endParaRPr lang="en-US" altLang="zh-CN" dirty="0"/>
          </a:p>
          <a:p>
            <a:pPr lvl="1"/>
            <a:r>
              <a:rPr lang="zh-CN" altLang="en-US" dirty="0"/>
              <a:t>每个样品每种测试条件进行了</a:t>
            </a:r>
            <a:r>
              <a:rPr lang="en-US" altLang="zh-CN" dirty="0"/>
              <a:t>4</a:t>
            </a:r>
            <a:r>
              <a:rPr lang="zh-CN" altLang="en-US" dirty="0"/>
              <a:t>次测量</a:t>
            </a:r>
            <a:endParaRPr lang="en-US" altLang="zh-CN" dirty="0"/>
          </a:p>
          <a:p>
            <a:pPr lvl="1"/>
            <a:r>
              <a:rPr lang="zh-CN" altLang="en-US" dirty="0"/>
              <a:t>已对每种测量条件的个别数据进行了拟合处理，批量处理程序完善中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本报告给出初步处理结果</a:t>
            </a:r>
            <a:endParaRPr lang="en-US" altLang="zh-CN" dirty="0"/>
          </a:p>
        </p:txBody>
      </p:sp>
      <p:sp>
        <p:nvSpPr>
          <p:cNvPr id="73" name="灯片编号占位符 72">
            <a:extLst>
              <a:ext uri="{FF2B5EF4-FFF2-40B4-BE49-F238E27FC236}">
                <a16:creationId xmlns:a16="http://schemas.microsoft.com/office/drawing/2014/main" id="{B1DF4C00-2644-AE08-0EAB-68E36BEC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223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E7D86743-FFBF-75C2-F130-F84B60ED6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865278"/>
            <a:ext cx="9944100" cy="53035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C19D3C4-B2E4-8543-BF8C-60F3A3D8E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98"/>
            <a:ext cx="10515600" cy="1148443"/>
          </a:xfrm>
        </p:spPr>
        <p:txBody>
          <a:bodyPr/>
          <a:lstStyle/>
          <a:p>
            <a:r>
              <a:rPr lang="zh-CN" altLang="en-US" dirty="0"/>
              <a:t>每种测量条件的其中一次结果对比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D61D13-550B-932C-FE05-EB01DA93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E3606C-119F-D621-6523-C9A3D9B50188}"/>
              </a:ext>
            </a:extLst>
          </p:cNvPr>
          <p:cNvSpPr txBox="1"/>
          <p:nvPr/>
        </p:nvSpPr>
        <p:spPr>
          <a:xfrm>
            <a:off x="9118373" y="1143454"/>
            <a:ext cx="149542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511 keV </a:t>
            </a:r>
            <a:r>
              <a:rPr lang="zh-CN" altLang="en-US" sz="2400" dirty="0"/>
              <a:t>峰位对比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FD5BA73-61B3-9BE8-13EC-0E9F8CDAC776}"/>
              </a:ext>
            </a:extLst>
          </p:cNvPr>
          <p:cNvSpPr txBox="1"/>
          <p:nvPr/>
        </p:nvSpPr>
        <p:spPr>
          <a:xfrm>
            <a:off x="1866900" y="5281522"/>
            <a:ext cx="149542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底面粗糙其他面光滑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0065D5C-F8B4-735A-0C54-E025E3D685DF}"/>
              </a:ext>
            </a:extLst>
          </p:cNvPr>
          <p:cNvSpPr txBox="1"/>
          <p:nvPr/>
        </p:nvSpPr>
        <p:spPr>
          <a:xfrm>
            <a:off x="3362325" y="5281522"/>
            <a:ext cx="149542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顶面粗糙其他面光滑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489C5A-85DD-6D68-20BA-A54ED8175738}"/>
              </a:ext>
            </a:extLst>
          </p:cNvPr>
          <p:cNvSpPr txBox="1"/>
          <p:nvPr/>
        </p:nvSpPr>
        <p:spPr>
          <a:xfrm>
            <a:off x="4924425" y="5252494"/>
            <a:ext cx="109900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所有面光滑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12A0112-09B3-1120-8F33-FDF7423B1CF8}"/>
              </a:ext>
            </a:extLst>
          </p:cNvPr>
          <p:cNvSpPr txBox="1"/>
          <p:nvPr/>
        </p:nvSpPr>
        <p:spPr>
          <a:xfrm>
            <a:off x="6122309" y="5279254"/>
            <a:ext cx="149542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底面光滑其他面粗糙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338303C-EA24-5B66-6886-F1FC685B4669}"/>
              </a:ext>
            </a:extLst>
          </p:cNvPr>
          <p:cNvSpPr txBox="1"/>
          <p:nvPr/>
        </p:nvSpPr>
        <p:spPr>
          <a:xfrm>
            <a:off x="9120820" y="5284011"/>
            <a:ext cx="149542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顶面光滑其他面粗糙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3D70A3E-D59F-E8F2-35A0-234B3E4D5664}"/>
              </a:ext>
            </a:extLst>
          </p:cNvPr>
          <p:cNvSpPr txBox="1"/>
          <p:nvPr/>
        </p:nvSpPr>
        <p:spPr>
          <a:xfrm>
            <a:off x="7519985" y="5270898"/>
            <a:ext cx="1713369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所有侧面粗糙其他面光滑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16C75CE-26DC-0059-A9FC-286100A59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838641"/>
              </p:ext>
            </p:extLst>
          </p:nvPr>
        </p:nvGraphicFramePr>
        <p:xfrm>
          <a:off x="2365829" y="6006336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435AF32-92E2-F9CB-5F49-27241C017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239705"/>
              </p:ext>
            </p:extLst>
          </p:nvPr>
        </p:nvGraphicFramePr>
        <p:xfrm>
          <a:off x="3826783" y="6006336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911BE73-8040-A7BC-2655-DE2C7E918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501146"/>
              </p:ext>
            </p:extLst>
          </p:nvPr>
        </p:nvGraphicFramePr>
        <p:xfrm>
          <a:off x="5225143" y="6004875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1292D90-9B02-9759-E168-D92FAC260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912770"/>
              </p:ext>
            </p:extLst>
          </p:nvPr>
        </p:nvGraphicFramePr>
        <p:xfrm>
          <a:off x="6686097" y="6004178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D56FF53-B540-BA9D-1C61-37C49433C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148316"/>
              </p:ext>
            </p:extLst>
          </p:nvPr>
        </p:nvGraphicFramePr>
        <p:xfrm>
          <a:off x="8110765" y="6004177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A00DCAE-71A0-9003-8741-03E48630B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361808"/>
              </p:ext>
            </p:extLst>
          </p:nvPr>
        </p:nvGraphicFramePr>
        <p:xfrm>
          <a:off x="9566957" y="6004177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117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7D350-68CF-DDF7-4135-2A410D21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每种测量条件的其中一次能谱测量结果</a:t>
            </a:r>
          </a:p>
        </p:txBody>
      </p:sp>
      <p:sp>
        <p:nvSpPr>
          <p:cNvPr id="73" name="灯片编号占位符 72">
            <a:extLst>
              <a:ext uri="{FF2B5EF4-FFF2-40B4-BE49-F238E27FC236}">
                <a16:creationId xmlns:a16="http://schemas.microsoft.com/office/drawing/2014/main" id="{B1DF4C00-2644-AE08-0EAB-68E36BEC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A063EA3-B3F1-DC82-DFC3-AA5FEDBFA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80" y="1519177"/>
            <a:ext cx="3825922" cy="24868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257E57-67FB-92E2-F269-9B352E455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80" y="4006026"/>
            <a:ext cx="3825922" cy="24868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84E2EE3-EE07-CD8E-769D-95C8A8BC6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203" y="1519177"/>
            <a:ext cx="3825922" cy="24868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B6DC72F-F696-A9E3-E8F0-ABB718E6C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125" y="1519175"/>
            <a:ext cx="3825922" cy="248684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22E74CD-ECBB-7640-D949-B044B3BFD9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8203" y="4006024"/>
            <a:ext cx="3825922" cy="248684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DFDCFDB-176D-B494-6D80-521DBF1BA0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4125" y="4006022"/>
            <a:ext cx="3825922" cy="248684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24550E5-3E3F-A4D8-1BE9-D5E36D23F393}"/>
              </a:ext>
            </a:extLst>
          </p:cNvPr>
          <p:cNvSpPr txBox="1"/>
          <p:nvPr/>
        </p:nvSpPr>
        <p:spPr>
          <a:xfrm>
            <a:off x="6173040" y="1690688"/>
            <a:ext cx="149542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底面粗糙其他面光滑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E329D64-0143-F07C-970D-FE286CDD7C09}"/>
              </a:ext>
            </a:extLst>
          </p:cNvPr>
          <p:cNvSpPr txBox="1"/>
          <p:nvPr/>
        </p:nvSpPr>
        <p:spPr>
          <a:xfrm>
            <a:off x="10051498" y="1700770"/>
            <a:ext cx="149542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顶面粗糙其他面光滑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6AD5091-996A-0660-B9F0-AC670484B6EC}"/>
              </a:ext>
            </a:extLst>
          </p:cNvPr>
          <p:cNvSpPr txBox="1"/>
          <p:nvPr/>
        </p:nvSpPr>
        <p:spPr>
          <a:xfrm>
            <a:off x="2796075" y="1700770"/>
            <a:ext cx="109900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所有面光滑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DF5436-351B-282F-7960-64697189AB96}"/>
              </a:ext>
            </a:extLst>
          </p:cNvPr>
          <p:cNvSpPr txBox="1"/>
          <p:nvPr/>
        </p:nvSpPr>
        <p:spPr>
          <a:xfrm>
            <a:off x="10051498" y="4187619"/>
            <a:ext cx="149542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底面光滑其他面粗糙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0BB655-FD58-0118-26A2-7644C2FADCAC}"/>
              </a:ext>
            </a:extLst>
          </p:cNvPr>
          <p:cNvSpPr txBox="1"/>
          <p:nvPr/>
        </p:nvSpPr>
        <p:spPr>
          <a:xfrm>
            <a:off x="6225576" y="4262079"/>
            <a:ext cx="149542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顶面光滑其他面粗糙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F09222E-6E9B-92AF-CFFE-344CD683630E}"/>
              </a:ext>
            </a:extLst>
          </p:cNvPr>
          <p:cNvCxnSpPr>
            <a:cxnSpLocks/>
          </p:cNvCxnSpPr>
          <p:nvPr/>
        </p:nvCxnSpPr>
        <p:spPr>
          <a:xfrm flipV="1">
            <a:off x="1671851" y="2156172"/>
            <a:ext cx="0" cy="5322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7A32174D-E881-DC70-218B-B2C659FD281C}"/>
              </a:ext>
            </a:extLst>
          </p:cNvPr>
          <p:cNvSpPr txBox="1"/>
          <p:nvPr/>
        </p:nvSpPr>
        <p:spPr>
          <a:xfrm>
            <a:off x="1410967" y="2721092"/>
            <a:ext cx="764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511 keV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CF9A0C7-E7D9-0DB1-CDCC-690455102EC7}"/>
              </a:ext>
            </a:extLst>
          </p:cNvPr>
          <p:cNvSpPr txBox="1"/>
          <p:nvPr/>
        </p:nvSpPr>
        <p:spPr>
          <a:xfrm>
            <a:off x="2181710" y="4262079"/>
            <a:ext cx="1713369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所有侧面粗糙其他面光滑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7CD7429-25D8-5AB2-5FE3-0DF6934B411B}"/>
              </a:ext>
            </a:extLst>
          </p:cNvPr>
          <p:cNvCxnSpPr>
            <a:cxnSpLocks/>
          </p:cNvCxnSpPr>
          <p:nvPr/>
        </p:nvCxnSpPr>
        <p:spPr>
          <a:xfrm flipV="1">
            <a:off x="1323508" y="4790515"/>
            <a:ext cx="0" cy="5322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2926C44-5508-EE83-BAA3-23CD1DB7A407}"/>
              </a:ext>
            </a:extLst>
          </p:cNvPr>
          <p:cNvCxnSpPr>
            <a:cxnSpLocks/>
          </p:cNvCxnSpPr>
          <p:nvPr/>
        </p:nvCxnSpPr>
        <p:spPr>
          <a:xfrm flipV="1">
            <a:off x="5772137" y="2220771"/>
            <a:ext cx="0" cy="5322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D63F678-3F95-80A4-47EB-4C54729E0D56}"/>
              </a:ext>
            </a:extLst>
          </p:cNvPr>
          <p:cNvCxnSpPr>
            <a:cxnSpLocks/>
          </p:cNvCxnSpPr>
          <p:nvPr/>
        </p:nvCxnSpPr>
        <p:spPr>
          <a:xfrm flipV="1">
            <a:off x="5017394" y="4687429"/>
            <a:ext cx="0" cy="5322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62AB5D8-FEB7-6C7D-2F13-B1A65E886A94}"/>
              </a:ext>
            </a:extLst>
          </p:cNvPr>
          <p:cNvCxnSpPr>
            <a:cxnSpLocks/>
          </p:cNvCxnSpPr>
          <p:nvPr/>
        </p:nvCxnSpPr>
        <p:spPr>
          <a:xfrm flipV="1">
            <a:off x="8892709" y="4731281"/>
            <a:ext cx="0" cy="5322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3ACF3B4-C42B-9F82-7446-281E680546F1}"/>
              </a:ext>
            </a:extLst>
          </p:cNvPr>
          <p:cNvCxnSpPr>
            <a:cxnSpLocks/>
          </p:cNvCxnSpPr>
          <p:nvPr/>
        </p:nvCxnSpPr>
        <p:spPr>
          <a:xfrm flipV="1">
            <a:off x="9589394" y="2188829"/>
            <a:ext cx="0" cy="5322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D3CCA02B-A4A3-05B9-A87B-5FC5220CE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810727"/>
              </p:ext>
            </p:extLst>
          </p:nvPr>
        </p:nvGraphicFramePr>
        <p:xfrm>
          <a:off x="7351463" y="2109270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A3BD1940-ECA5-89F6-3C9C-DDF5A068B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100663"/>
              </p:ext>
            </p:extLst>
          </p:nvPr>
        </p:nvGraphicFramePr>
        <p:xfrm>
          <a:off x="11178229" y="2131041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08BFB0AB-043A-0740-1838-84141B903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284664"/>
              </p:ext>
            </p:extLst>
          </p:nvPr>
        </p:nvGraphicFramePr>
        <p:xfrm>
          <a:off x="3577777" y="2064262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503EAAF9-E514-DD12-15C8-8B0BEB31F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455008"/>
              </p:ext>
            </p:extLst>
          </p:nvPr>
        </p:nvGraphicFramePr>
        <p:xfrm>
          <a:off x="11141958" y="4922864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306778FE-09F4-2AAF-E456-F238C4CAE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631541"/>
              </p:ext>
            </p:extLst>
          </p:nvPr>
        </p:nvGraphicFramePr>
        <p:xfrm>
          <a:off x="3582331" y="4980920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1E76F3F2-93D3-8473-FFE4-1C0A85824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792177"/>
              </p:ext>
            </p:extLst>
          </p:nvPr>
        </p:nvGraphicFramePr>
        <p:xfrm>
          <a:off x="7324510" y="4988179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766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7D350-68CF-DDF7-4135-2A410D21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87192-7275-8F30-EB9F-614B99448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330"/>
            <a:ext cx="10515600" cy="4351338"/>
          </a:xfrm>
        </p:spPr>
        <p:txBody>
          <a:bodyPr/>
          <a:lstStyle/>
          <a:p>
            <a:r>
              <a:rPr lang="zh-CN" altLang="en-US" dirty="0"/>
              <a:t>根据初步处理结果，不同表面条件的光输出排序为（由高到低）：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底面粗糙其他面光滑</a:t>
            </a:r>
            <a:r>
              <a:rPr lang="en-US" altLang="zh-CN" dirty="0"/>
              <a:t> </a:t>
            </a:r>
            <a:r>
              <a:rPr lang="zh-CN" altLang="en-US" dirty="0"/>
              <a:t>≈</a:t>
            </a:r>
            <a:r>
              <a:rPr lang="en-US" altLang="zh-CN" dirty="0"/>
              <a:t> </a:t>
            </a:r>
            <a:r>
              <a:rPr lang="zh-CN" altLang="en-US" dirty="0"/>
              <a:t>顶面粗糙其他面光滑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所有面光滑</a:t>
            </a:r>
            <a:endParaRPr lang="en-US" altLang="zh-CN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所有侧面粗糙其他面光滑 </a:t>
            </a:r>
            <a:r>
              <a:rPr lang="zh-CN" altLang="en-US" dirty="0"/>
              <a:t>≈ 底面光滑其他面粗糙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顶面光滑其他面粗糙</a:t>
            </a:r>
            <a:endParaRPr lang="en-US" altLang="zh-CN" dirty="0"/>
          </a:p>
        </p:txBody>
      </p:sp>
      <p:sp>
        <p:nvSpPr>
          <p:cNvPr id="73" name="灯片编号占位符 72">
            <a:extLst>
              <a:ext uri="{FF2B5EF4-FFF2-40B4-BE49-F238E27FC236}">
                <a16:creationId xmlns:a16="http://schemas.microsoft.com/office/drawing/2014/main" id="{B1DF4C00-2644-AE08-0EAB-68E36BEC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2FC2-BB33-408E-802F-6454D3AC54E3}" type="slidenum">
              <a:rPr lang="zh-CN" altLang="en-US" smtClean="0"/>
              <a:t>8</a:t>
            </a:fld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06C10E1-9BDE-D358-2C02-A760B4E29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032621"/>
              </p:ext>
            </p:extLst>
          </p:nvPr>
        </p:nvGraphicFramePr>
        <p:xfrm>
          <a:off x="8904492" y="2617270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765542F-80EB-0895-45F1-2709ECB8A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934459"/>
              </p:ext>
            </p:extLst>
          </p:nvPr>
        </p:nvGraphicFramePr>
        <p:xfrm>
          <a:off x="9597572" y="2636483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3462063-6DD1-A3CE-3821-9577FB744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798885"/>
              </p:ext>
            </p:extLst>
          </p:nvPr>
        </p:nvGraphicFramePr>
        <p:xfrm>
          <a:off x="8904492" y="3429000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DBD6BF2-1423-7E37-0A65-BB4769365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993383"/>
              </p:ext>
            </p:extLst>
          </p:nvPr>
        </p:nvGraphicFramePr>
        <p:xfrm>
          <a:off x="8904492" y="4240730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5374D3E-411A-22C4-DA4F-CEAA0A5A0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434615"/>
              </p:ext>
            </p:extLst>
          </p:nvPr>
        </p:nvGraphicFramePr>
        <p:xfrm>
          <a:off x="9597572" y="4240729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7C400FC-A6A4-DBA1-42F2-FAF4939C6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155331"/>
              </p:ext>
            </p:extLst>
          </p:nvPr>
        </p:nvGraphicFramePr>
        <p:xfrm>
          <a:off x="8904492" y="4993299"/>
          <a:ext cx="384628" cy="55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28">
                  <a:extLst>
                    <a:ext uri="{9D8B030D-6E8A-4147-A177-3AD203B41FA5}">
                      <a16:colId xmlns:a16="http://schemas.microsoft.com/office/drawing/2014/main" val="1102618750"/>
                    </a:ext>
                  </a:extLst>
                </a:gridCol>
              </a:tblGrid>
              <a:tr h="5548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33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10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376</Words>
  <Application>Microsoft Office PowerPoint</Application>
  <PresentationFormat>宽屏</PresentationFormat>
  <Paragraphs>77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GAGG表面处理对光收集的影响 初步实验结果</vt:lpstr>
      <vt:lpstr>二十六所提供的样品及测试计划</vt:lpstr>
      <vt:lpstr>实验装置</vt:lpstr>
      <vt:lpstr>装置照片</vt:lpstr>
      <vt:lpstr>当前进展（2026.7.21）</vt:lpstr>
      <vt:lpstr>每种测量条件的其中一次结果对比</vt:lpstr>
      <vt:lpstr>每种测量条件的其中一次能谱测量结果</vt:lpstr>
      <vt:lpstr>结论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晓凡 潘</dc:creator>
  <cp:lastModifiedBy>晓凡 潘</cp:lastModifiedBy>
  <cp:revision>12</cp:revision>
  <dcterms:created xsi:type="dcterms:W3CDTF">2026-05-11T07:02:33Z</dcterms:created>
  <dcterms:modified xsi:type="dcterms:W3CDTF">2026-07-21T01:57:27Z</dcterms:modified>
</cp:coreProperties>
</file>